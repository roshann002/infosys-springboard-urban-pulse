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371600"/>
            <a:ext cx="4572000" cy="45720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5120640"/>
            <a:ext cx="2194560" cy="219456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 URBAN INTELLIGENCE REPORT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10241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Demographics, Mobility, Transportation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Weather — A Data-Driven Study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analysis of four datasets covering 38 districts, 1,000 transport trips,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96,453 weather readings, and 5,000 live mobility records.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5257800"/>
            <a:ext cx="2011680" cy="0"/>
          </a:xfrm>
          <a:prstGeom prst="line">
            <a:avLst/>
          </a:prstGeom>
          <a:noFill/>
          <a:ln w="31750">
            <a:solidFill>
              <a:srgbClr val="F2A6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486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with exploratory data analysis  • 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datasets, one connected story about how people, weather, and transport shape Tamil Nadu's cities.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AF3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03120" y="190195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103120" y="22860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Population, density, literacy &amp; growth across 38 districts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98648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AF3F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98648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103120" y="3017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03120" y="340156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modes, fuel types, distances &amp; emissions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14216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AF3F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014216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103120" y="413308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03120" y="4517136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96K+ readings — temperature, humidity &amp; conditions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129784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AF3F7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129784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103120" y="524865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&amp; Traffic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03120" y="563270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speed, congestion, accidents &amp; demand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 Urban Intelligence Report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Datasets, One Ecosystem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combined view of population, movement, and environment across Tamil Nadu.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E2E8EE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2651760" cy="1828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002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 districts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fields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136392"/>
            <a:ext cx="2377440" cy="0"/>
          </a:xfrm>
          <a:prstGeom prst="line">
            <a:avLst/>
          </a:prstGeom>
          <a:noFill/>
          <a:ln w="12700">
            <a:solidFill>
              <a:srgbClr val="E2E8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29184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Population, area, density, literacy, sex ratio, growth rate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29000" y="160020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E2E8EE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160020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3429000" y="1920240"/>
            <a:ext cx="2651760" cy="1828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6002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66160" y="2286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 trips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566160" y="2697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fields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66160" y="3136392"/>
            <a:ext cx="2377440" cy="0"/>
          </a:xfrm>
          <a:prstGeom prst="line">
            <a:avLst/>
          </a:prstGeom>
          <a:noFill/>
          <a:ln w="12700">
            <a:solidFill>
              <a:srgbClr val="E2E8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329184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Mode, route, fuel type, distance, frequency, emissions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160020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E2E8EE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160020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F2A65A"/>
          </a:solidFill>
          <a:ln/>
        </p:spPr>
      </p:sp>
      <p:sp>
        <p:nvSpPr>
          <p:cNvPr id="22" name="Shape 20"/>
          <p:cNvSpPr/>
          <p:nvPr/>
        </p:nvSpPr>
        <p:spPr>
          <a:xfrm>
            <a:off x="6309360" y="1920240"/>
            <a:ext cx="2651760" cy="18288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16002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46520" y="2286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96,453 readings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46520" y="2697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fields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46520" y="3136392"/>
            <a:ext cx="2377440" cy="0"/>
          </a:xfrm>
          <a:prstGeom prst="line">
            <a:avLst/>
          </a:prstGeom>
          <a:noFill/>
          <a:ln w="12700">
            <a:solidFill>
              <a:srgbClr val="E2E8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329184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 intervals: temperature, humidity, wind, pressure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189720" y="160020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E2E8EE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189720" y="160020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C1440E"/>
          </a:solidFill>
          <a:ln/>
        </p:spPr>
      </p:sp>
      <p:sp>
        <p:nvSpPr>
          <p:cNvPr id="30" name="Shape 28"/>
          <p:cNvSpPr/>
          <p:nvPr/>
        </p:nvSpPr>
        <p:spPr>
          <a:xfrm>
            <a:off x="9189720" y="1920240"/>
            <a:ext cx="2651760" cy="182880"/>
          </a:xfrm>
          <a:prstGeom prst="rect">
            <a:avLst/>
          </a:prstGeom>
          <a:solidFill>
            <a:srgbClr val="C1440E"/>
          </a:solidFill>
          <a:ln/>
        </p:spPr>
      </p:sp>
      <p:sp>
        <p:nvSpPr>
          <p:cNvPr id="31" name="Text 29"/>
          <p:cNvSpPr/>
          <p:nvPr/>
        </p:nvSpPr>
        <p:spPr>
          <a:xfrm>
            <a:off x="9189720" y="16002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326880" y="2286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 records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326880" y="2697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fields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326880" y="3136392"/>
            <a:ext cx="2377440" cy="0"/>
          </a:xfrm>
          <a:prstGeom prst="line">
            <a:avLst/>
          </a:prstGeom>
          <a:noFill/>
          <a:ln w="12700">
            <a:solidFill>
              <a:srgbClr val="E2E8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0" y="329184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traffic speed, occupancy, accidents, sentiment, demand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 Urban Intelligence Report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Demographics: Population at a Glance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· State-wide totals derived from all 38 districts in the dataset.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EAF3F7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37360"/>
            <a:ext cx="242316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76.5M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450592"/>
            <a:ext cx="242316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Population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EAF3F7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737360"/>
            <a:ext cx="242316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74720" y="2450592"/>
            <a:ext cx="242316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Covered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EAF3F7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737360"/>
            <a:ext cx="242316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79.5%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309360" y="2450592"/>
            <a:ext cx="242316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Literacy Rate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52560" y="16002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EAF3F7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0" y="1737360"/>
            <a:ext cx="242316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9.0%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0" y="2450592"/>
            <a:ext cx="242316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Growth Rate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11064240" cy="2651760"/>
          </a:xfrm>
          <a:prstGeom prst="roundRect">
            <a:avLst>
              <a:gd name="adj" fmla="val 2759"/>
            </a:avLst>
          </a:prstGeom>
          <a:solidFill>
            <a:srgbClr val="EAF3F7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429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vs Rural Balance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3840480"/>
            <a:ext cx="6309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population: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38.59M (50.4%)
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population: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37.95M (49.6%)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Nadu's population is almost evenly split between urban and rural areas, reflecting a state in the middle of rapid urban transition. Chennai alone accounts for over 4.6M residents concentrated in just 175 sq. km — by far the state's most dense district.</a:t>
            </a:r>
            <a:endParaRPr lang="en-US" sz="1250" dirty="0"/>
          </a:p>
        </p:txBody>
      </p:sp>
      <p:pic>
        <p:nvPicPr>
          <p:cNvPr id="19" name="Image 0" descr="/home/claude/charts/urban_ru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3337560"/>
            <a:ext cx="3931920" cy="24688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· Demographics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People Live &amp; Where Growth Is Fastest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populous districts and the fastest-growing districts often differ.</a:t>
            </a:r>
            <a:endParaRPr lang="en-US" sz="1250" dirty="0"/>
          </a:p>
        </p:txBody>
      </p:sp>
      <p:pic>
        <p:nvPicPr>
          <p:cNvPr id="4" name="Image 0" descr="/home/claude/charts/top10_popu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63040"/>
            <a:ext cx="5852160" cy="4480560"/>
          </a:xfrm>
          <a:prstGeom prst="rect">
            <a:avLst/>
          </a:prstGeom>
        </p:spPr>
      </p:pic>
      <p:pic>
        <p:nvPicPr>
          <p:cNvPr id="5" name="Image 1" descr="/home/claude/charts/growth_r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63040"/>
            <a:ext cx="5760720" cy="44805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· Demographics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Transportation: Trip Patterns at a Glance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Summary of 1,000 logged trips across Tamil Nadu's cities.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EAF3F7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37360"/>
            <a:ext cx="242316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13.6 mi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450592"/>
            <a:ext cx="242316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Trip Distance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EAF3F7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737360"/>
            <a:ext cx="242316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3.0x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74720" y="2450592"/>
            <a:ext cx="242316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Weekly Frequency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EAF3F7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737360"/>
            <a:ext cx="242316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25.1 mpg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309360" y="2450592"/>
            <a:ext cx="242316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Fuel Efficiency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52560" y="16002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EAF3F7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0" y="1737360"/>
            <a:ext cx="242316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58.4 kg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0" y="2450592"/>
            <a:ext cx="242316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CO2 / Trip</a:t>
            </a:r>
            <a:endParaRPr lang="en-US" sz="1050" dirty="0"/>
          </a:p>
        </p:txBody>
      </p:sp>
      <p:pic>
        <p:nvPicPr>
          <p:cNvPr id="16" name="Image 0" descr="/home/claude/charts/mode_sh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46120"/>
            <a:ext cx="3931920" cy="27432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754880" y="3246120"/>
            <a:ext cx="6858000" cy="2743200"/>
          </a:xfrm>
          <a:prstGeom prst="roundRect">
            <a:avLst>
              <a:gd name="adj" fmla="val 2667"/>
            </a:avLst>
          </a:prstGeom>
          <a:solidFill>
            <a:srgbClr val="EAF3F7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0" y="34290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Dominate the Road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029200" y="3840480"/>
            <a:ext cx="6309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account for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75.8% of all trips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(758 of 1,000), with bikes making up the remaining 24.2%. Fuel type is nearly split down the middle —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 electric vs 48.6% gasoline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showing meaningful EV adoption already underway across the surveyed trips. Average trip length holds steady at 13.6 miles regardless of mode.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Transportation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Emissions &amp; Trip Distances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vehicles cut monthly CO2 by ~10%; most trips fall in a short-to-medium distance band.</a:t>
            </a:r>
            <a:endParaRPr lang="en-US" sz="1250" dirty="0"/>
          </a:p>
        </p:txBody>
      </p:sp>
      <p:pic>
        <p:nvPicPr>
          <p:cNvPr id="4" name="Image 0" descr="/home/claude/charts/fuel_emis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63040"/>
            <a:ext cx="5760720" cy="4480560"/>
          </a:xfrm>
          <a:prstGeom prst="rect">
            <a:avLst/>
          </a:prstGeom>
        </p:spPr>
      </p:pic>
      <p:pic>
        <p:nvPicPr>
          <p:cNvPr id="5" name="Image 1" descr="/home/claude/charts/distance_d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63040"/>
            <a:ext cx="5760720" cy="44805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Transportation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Weather: Climate Snapshot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96,453 readings collected at 5-minute intervals from March 2024 to January 2025.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EAF3F7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37360"/>
            <a:ext cx="242316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11.9°C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450592"/>
            <a:ext cx="242316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Temperature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EAF3F7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737360"/>
            <a:ext cx="242316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-21.8° to 39.9°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74720" y="2450592"/>
            <a:ext cx="242316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Range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EAF3F7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737360"/>
            <a:ext cx="242316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73.5%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309360" y="2450592"/>
            <a:ext cx="242316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Humidity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52560" y="16002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EAF3F7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0" y="1737360"/>
            <a:ext cx="242316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10.8 km/h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0" y="2450592"/>
            <a:ext cx="242316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Wind Speed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11064240" cy="2651760"/>
          </a:xfrm>
          <a:prstGeom prst="roundRect">
            <a:avLst>
              <a:gd name="adj" fmla="val 2759"/>
            </a:avLst>
          </a:prstGeom>
          <a:solidFill>
            <a:srgbClr val="EAF3F7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4290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Overwhelmingly Cloudy Skies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384048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 Cloudy (32.9%) and Mostly Cloudy (29.1%)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describe roughly 62% of all readings. Clear skies occur only 11.3% of the time, and rain/drizzle events are rare in this dataset window — under 0.2% combined. This suggests a persistently overcast, humid climate pattern typical of Tamil Nadu's coastal-influenced weather, with temperature staying fairly stable month to month (11–13°C average band).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Weather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 Trend &amp; Humidity Relationship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averages stay within a 1.5°C band; humidity tends to fall as temperature rises.</a:t>
            </a:r>
            <a:endParaRPr lang="en-US" sz="1250" dirty="0"/>
          </a:p>
        </p:txBody>
      </p:sp>
      <p:pic>
        <p:nvPicPr>
          <p:cNvPr id="4" name="Image 0" descr="/home/claude/charts/temp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63040"/>
            <a:ext cx="5852160" cy="4480560"/>
          </a:xfrm>
          <a:prstGeom prst="rect">
            <a:avLst/>
          </a:prstGeom>
        </p:spPr>
      </p:pic>
      <p:pic>
        <p:nvPicPr>
          <p:cNvPr id="5" name="Image 1" descr="/home/claude/charts/temp_humid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669280" cy="44805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Weather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Mobility: Live Traffic Snapshot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Aggregated from 5,000 real-time mobility sensor records.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EAF3F7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37360"/>
            <a:ext cx="242316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154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450592"/>
            <a:ext cx="242316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Vehicle Count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EAF3F7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737360"/>
            <a:ext cx="242316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42.1 km/h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74720" y="2450592"/>
            <a:ext cx="242316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Traffic Speed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EAF3F7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737360"/>
            <a:ext cx="242316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9.6%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309360" y="2450592"/>
            <a:ext cx="242316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Rate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52560" y="16002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EAF3F7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0" y="1737360"/>
            <a:ext cx="242316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/ 25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0" y="2450592"/>
            <a:ext cx="242316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Ride Demand / Parking</a:t>
            </a:r>
            <a:endParaRPr lang="en-US" sz="1050" dirty="0"/>
          </a:p>
        </p:txBody>
      </p:sp>
      <p:pic>
        <p:nvPicPr>
          <p:cNvPr id="16" name="Image 0" descr="/home/claude/charts/traffic_condition_don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46120"/>
            <a:ext cx="3931920" cy="27432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754880" y="3246120"/>
            <a:ext cx="6858000" cy="2743200"/>
          </a:xfrm>
          <a:prstGeom prst="roundRect">
            <a:avLst>
              <a:gd name="adj" fmla="val 2667"/>
            </a:avLst>
          </a:prstGeom>
          <a:solidFill>
            <a:srgbClr val="EAF3F7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0" y="34290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Congestion Is the Norm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029200" y="3840480"/>
            <a:ext cx="6309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High-traffic conditions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for 63.3% of all records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(3,166 of 5,000), with Medium at 29.5% and Low at just 7.2%. High-traffic periods average 182 vehicles present, more than 3x the 53 vehicles seen during Low-traffic windows — congestion is clearly the default state, not the exception, in this dataset.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Mobility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Weather's Effect on the Road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speeds hold steady or even rise in poor weather — but accident rates climb with it.</a:t>
            </a:r>
            <a:endParaRPr lang="en-US" sz="1250" dirty="0"/>
          </a:p>
        </p:txBody>
      </p:sp>
      <p:pic>
        <p:nvPicPr>
          <p:cNvPr id="4" name="Image 0" descr="/home/claude/charts/speed_by_weat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08760"/>
            <a:ext cx="5760720" cy="4434840"/>
          </a:xfrm>
          <a:prstGeom prst="rect">
            <a:avLst/>
          </a:prstGeom>
        </p:spPr>
      </p:pic>
      <p:pic>
        <p:nvPicPr>
          <p:cNvPr id="5" name="Image 1" descr="/home/claude/charts/accident_by_weath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08760"/>
            <a:ext cx="5577840" cy="44348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Mobility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Density Drives Traffic State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classification tracks tightly with the number of vehicles present at a given moment.</a:t>
            </a:r>
            <a:endParaRPr lang="en-US" sz="1250" dirty="0"/>
          </a:p>
        </p:txBody>
      </p:sp>
      <p:pic>
        <p:nvPicPr>
          <p:cNvPr id="4" name="Image 0" descr="/home/claude/charts/vehicle_by_traff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658368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52360" y="1554480"/>
            <a:ext cx="4160520" cy="4480560"/>
          </a:xfrm>
          <a:prstGeom prst="roundRect">
            <a:avLst>
              <a:gd name="adj" fmla="val 1758"/>
            </a:avLst>
          </a:prstGeom>
          <a:solidFill>
            <a:srgbClr val="EAF3F7"/>
          </a:solidFill>
          <a:ln/>
        </p:spPr>
      </p:sp>
      <p:sp>
        <p:nvSpPr>
          <p:cNvPr id="6" name="Text 3"/>
          <p:cNvSpPr/>
          <p:nvPr/>
        </p:nvSpPr>
        <p:spPr>
          <a:xfrm>
            <a:off x="772668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Behavior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26680" y="2148840"/>
            <a:ext cx="3657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 state (Red/Yellow/Green) shows almost no effect on average speed — all three hover near 42 km/h. This suggests congestion in this network is driven more by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volume and road occupancy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by signal timing alone, pointing toward volume-based interventions (route balancing, ride-share incentives) rather than signal retiming as the higher-leverage fix.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Mobility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the Dots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demographics, weather, transport and mobility relate to one another.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2A347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94767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Drives Demand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6D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Chennai's extreme density (26,553/km²) aligns with the high-traffic conditions dominating the mobility dataset — dense urban cores generate the most congestion pressure.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2A3470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69480" y="194767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EVs Are Gaining Ground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29400" y="256032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6D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51% of logged trips already electric and a 10% emissions advantage over gasoline, transport decarbonization is already underway, not just aspirational.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2A3470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480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46227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Raises Risk, Not Delay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507492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6D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 and rain correlate with higher accident rates (10.3% and 9.6%) despite similar or faster average speeds — a safety gap, not a speed gap.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420624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2A3470"/>
          </a:solidFill>
          <a:ln/>
        </p:spPr>
      </p:sp>
      <p:sp>
        <p:nvSpPr>
          <p:cNvPr id="20" name="Shape 18"/>
          <p:cNvSpPr/>
          <p:nvPr/>
        </p:nvSpPr>
        <p:spPr>
          <a:xfrm>
            <a:off x="6629400" y="4480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1440E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69480" y="446227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Corridors Need Capacity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29400" y="507492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6D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Fast-growing districts near Chennai (Chengalpattu, Tiruvallur) will likely inherit the capital's congestion patterns as population and traffic scale together.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Insights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Data-informed actions for planners, transit authorities and policymakers.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EAF3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6994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699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71907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EV Infrastructure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00200" y="210312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charging networks along high-growth corridors (Chengalpattu, Tiruvallur, Tiruppur) to sustain the current 51% electric trip share.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52928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EAF3F7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312267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12267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297180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Volume, Not Just Signals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600200" y="3355848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light state barely affects speed, invest in demand-side tools — carpooling incentives, staggered work hours, ride-share subsidies.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05656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EAF3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375404"/>
            <a:ext cx="512064" cy="512064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7540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22452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Weather-Aware Safety Alerts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600200" y="4608576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real-time driver alerts during rain/snow conditions specifically, when accident rates climb even though speeds don't drop.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358384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EAF3F7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5628132"/>
            <a:ext cx="512064" cy="512064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6281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00200" y="5477256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Ahead of Growth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600200" y="5861304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Fast-growing districts near Chennai should scale transit capacity proactively, using Chennai's density patterns as an early-warning template.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4160520"/>
            <a:ext cx="2011680" cy="0"/>
          </a:xfrm>
          <a:prstGeom prst="line">
            <a:avLst/>
          </a:prstGeom>
          <a:noFill/>
          <a:ln w="31750">
            <a:solidFill>
              <a:srgbClr val="F2A6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89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Demographic, Transportation, Weather &amp; Mobility datasets (Tamil Nadu, 2024–25)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2026-08-04T10:14:01Z</dcterms:created>
  <dcterms:modified xsi:type="dcterms:W3CDTF">2026-08-04T10:14:01Z</dcterms:modified>
</cp:coreProperties>
</file>